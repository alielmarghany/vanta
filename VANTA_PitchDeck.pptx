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2A28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9A8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28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28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282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6.2</c:v>
                </c:pt>
                <c:pt idx="2">
                  <c:v>16.8</c:v>
                </c:pt>
                <c:pt idx="3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9A8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8080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808"/>
        </a:solidFill>
        <a:ln>
          <a:noFill/>
        </a:ln>
        <a:effectLst/>
      </c:spPr>
    </c:plotArea>
    <c:plotVisOnly val="1"/>
    <c:dispBlanksAs val="span"/>
  </c:chart>
  <c:spPr>
    <a:solidFill>
      <a:srgbClr val="08080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1614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45720" cy="2560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Infrastructure Layer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Human Longevity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SERIES B  ·  CONFIDENTIAL  ·  2025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3931920"/>
            <a:ext cx="10058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39502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0" y="43891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086600" y="3931920"/>
            <a:ext cx="10058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39502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43891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229600" y="3931920"/>
            <a:ext cx="1005840" cy="8686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9502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0" y="43891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vanta.health  ·  invest@vanta.health  ·  San Francisco, 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66928"/>
            <a:ext cx="228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data is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" y="141732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broken. Entirely.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82880" y="2331720"/>
            <a:ext cx="420624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441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data silos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8072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scattered across EHRs, labs, wearables, insurers — with no way to connect them.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331720"/>
            <a:ext cx="420624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00600" y="24414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Diagnoses arrive 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28072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is detected 6.2 years after the biological signal first appears in data.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3566160"/>
            <a:ext cx="420624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3611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5760" y="3675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identity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health identity persists across providers. Every care transition loses critical context.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566160"/>
            <a:ext cx="4206240" cy="10972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3611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1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00600" y="3675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can't generalize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trained on single-institution data fails catastrophically at scale. Bad data = bad models.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66928"/>
            <a:ext cx="228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forces converging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" y="1417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now.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82880" y="237744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414016"/>
            <a:ext cx="2743200" cy="23774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4871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 Mandate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34198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21st Century Cures 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69417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government legally requires health data interoperability. Hospitals must comply or face penalties. VANTA makes compliance instant.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2377440"/>
            <a:ext cx="2743200" cy="36576"/>
          </a:xfrm>
          <a:prstGeom prst="rect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2414016"/>
            <a:ext cx="2743200" cy="23774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4871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310128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Models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0128" y="34198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C9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LLMs changed everything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369417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unstructured clinical notes, imaging, and genomics can be parsed, normalized, and reasoned about at scale.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3056" y="237744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3056" y="2414016"/>
            <a:ext cx="2743200" cy="23774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0216" y="248716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00216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Wearable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0216" y="34198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longitudinal signal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0216" y="3694176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wearable devices now generate continuous, longitudinal biomarker data. The raw material for precision health finally exists.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2648"/>
            <a:ext cx="228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02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layer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unite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of it.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30632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 is the middleware that sits between every health data source and every clinical decision — the Stripe of health infrastructure.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92040" y="411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Health Graph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7589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knowledge graph unifying clinical, genomic, environmental &amp; behavioral data into one longitudinal record.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444752"/>
            <a:ext cx="4663440" cy="9144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Biomarker Intelligence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9019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2.4B data points. Detects early disease signals with 94.2% sensitivity across 340 conditions.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2587752"/>
            <a:ext cx="4663440" cy="9144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92040" y="2697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Zero-Knowledge Identity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0449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health identity enables sharing without exposing raw PHI. HIPAA-compliant by architecture.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3730752"/>
            <a:ext cx="4663440" cy="9144"/>
          </a:xfrm>
          <a:prstGeom prst="rect">
            <a:avLst/>
          </a:prstGeom>
          <a:solidFill>
            <a:srgbClr val="D8D0C0"/>
          </a:solidFill>
          <a:ln w="12700">
            <a:solidFill>
              <a:srgbClr val="D8D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92040" y="3840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API-First Integration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418795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any EHR, lab, or wearable in under 4 hours with 340+ pre-built FHIR-native integrations.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66928"/>
            <a:ext cx="228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VANTA works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148840" y="2286000"/>
            <a:ext cx="27432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600200"/>
            <a:ext cx="201168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60020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2724912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EHRs, labs, genomics providers &amp; wearables via FHIR API or VANTA's 340+ pre-built connectors. Average time to connect: 4 hours.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2286000"/>
            <a:ext cx="27432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1600200"/>
            <a:ext cx="201168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23160" y="160020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6916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56032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60320" y="2724912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VANTA's Health Graph normalizes, deduplicates, and links every data point to a persistent zero-knowledge patient identity.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2286000"/>
            <a:ext cx="27432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00200"/>
            <a:ext cx="201168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60020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6916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0600" y="2724912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Biomarker Intelligence Engine runs continuously, surfacing risk signals, anomalies, and population-level trends in real 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600200"/>
            <a:ext cx="201168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60020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6916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040880" y="2286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2724912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receive ranked, explainable alerts. Health systems get population dashboards. Partners access the API for their own AI applications.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66928"/>
            <a:ext cx="228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SIZE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$3.2 trillion market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82880" y="13716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no incumbent.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82880" y="2331720"/>
            <a:ext cx="2743200" cy="24688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4434840"/>
            <a:ext cx="2377440" cy="54864"/>
          </a:xfrm>
          <a:prstGeom prst="rect">
            <a:avLst/>
          </a:prstGeom>
          <a:solidFill>
            <a:srgbClr val="2A2820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434840"/>
            <a:ext cx="2139696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505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$3.2T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65760" y="32552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547872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health infrastructure, precision medicine &amp; clinical AI by 2030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2331720"/>
            <a:ext cx="2743200" cy="24688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5848" y="4434840"/>
            <a:ext cx="2377440" cy="54864"/>
          </a:xfrm>
          <a:prstGeom prst="rect">
            <a:avLst/>
          </a:prstGeom>
          <a:solidFill>
            <a:srgbClr val="2A2820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4434840"/>
            <a:ext cx="142646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4505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$340B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355848" y="32552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3547872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interoperability, EHR integration &amp; population health in developed markets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3056" y="2331720"/>
            <a:ext cx="2743200" cy="24688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4434840"/>
            <a:ext cx="2377440" cy="54864"/>
          </a:xfrm>
          <a:prstGeom prst="rect">
            <a:avLst/>
          </a:prstGeom>
          <a:solidFill>
            <a:srgbClr val="2A2820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4434840"/>
            <a:ext cx="71323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24505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$18B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345936" y="32552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 (Yr 5)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5936" y="3547872"/>
            <a:ext cx="2377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enterprise health system contracts at $15M average TCV — our 5-year target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66928"/>
            <a:ext cx="228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recurring,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82880" y="13716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compounding.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82880" y="2286000"/>
            <a:ext cx="86868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286000"/>
            <a:ext cx="5385816" cy="804672"/>
          </a:xfrm>
          <a:prstGeom prst="rect">
            <a:avLst/>
          </a:prstGeom>
          <a:solidFill>
            <a:srgbClr val="161410"/>
          </a:solidFill>
          <a:ln w="12700">
            <a:solidFill>
              <a:srgbClr val="1614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2286000"/>
            <a:ext cx="4572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77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License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SaaS fee per health system. Scales with patient volume.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377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$250K–$2M/yr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7249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62% of ARR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3182112"/>
            <a:ext cx="86868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3182112"/>
            <a:ext cx="1824228" cy="804672"/>
          </a:xfrm>
          <a:prstGeom prst="rect">
            <a:avLst/>
          </a:prstGeom>
          <a:solidFill>
            <a:srgbClr val="161410"/>
          </a:solidFill>
          <a:ln w="12700">
            <a:solidFill>
              <a:srgbClr val="16141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3182112"/>
            <a:ext cx="4572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735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Access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36027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 for third-party developers building on VANTA data.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2735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$0.002/call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6210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21% of ARR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" y="4078224"/>
            <a:ext cx="8686800" cy="804672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4078224"/>
            <a:ext cx="1476756" cy="804672"/>
          </a:xfrm>
          <a:prstGeom prst="rect">
            <a:avLst/>
          </a:prstGeom>
          <a:solidFill>
            <a:srgbClr val="161410"/>
          </a:solidFill>
          <a:ln w="12700">
            <a:solidFill>
              <a:srgbClr val="16141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4078224"/>
            <a:ext cx="45720" cy="8046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1696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Intelligence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1480" y="44988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Anonymized, aggregated population insights sold to pharma &amp; research.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41696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$50K–$500K/yr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0" y="45171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17% of ARR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2880" y="4663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72% gross margin  ·  $8,400 CAC  ·  $2.1M avg LTV  ·  250:1 LTV/CAC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66928"/>
            <a:ext cx="228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 speak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82880" y="13716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themselves.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82880" y="2331720"/>
            <a:ext cx="20116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233172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423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288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340% YoY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2331720"/>
            <a:ext cx="20116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233172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423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2316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Clients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316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$333K ACV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20116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33172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423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6344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Revenue Retention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SaaS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2331720"/>
            <a:ext cx="2011680" cy="13716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233172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423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4.2M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90372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on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from 800K in 2023</a:t>
            </a:r>
            <a:endParaRPr lang="en-US" sz="9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182880" y="3840480"/>
          <a:ext cx="877824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566928"/>
            <a:ext cx="228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7772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people who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82880" y="13258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lived the problem.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182880" y="2194560"/>
            <a:ext cx="201168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304288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04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" y="301752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Sofia Ramos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" y="340156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CEO &amp; CO-FOUNDER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2608" y="3657600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Chief Data Officer, Mayo Clinic. MD/PhD Stanford. Led the first federated learning initiative across 40 U.S. health systems.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" y="44805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Mayo Clinic  ·  Stanford Medicine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23160" y="2194560"/>
            <a:ext cx="201168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304288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304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32888" y="301752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James Okafor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32888" y="340156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CTO &amp; CO-FOUNDER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532888" y="3657600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Ex-Google Brain. Architected health data pipelines processing 8TB/day. 14 patents in privacy-preserving ML and FHIR infrastructure.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44805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Brain  ·  DeepMind Health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2194560"/>
            <a:ext cx="201168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2304288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304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73168" y="301752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Lin Wei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340156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CHIEF SCIENCE OFFICER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73168" y="3657600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research at Broad Institute for 11 years. 80+ peer-reviewed publications. Nature Medicine cover, 2022.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44805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 Institute  ·  MIT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03720" y="2194560"/>
            <a:ext cx="2011680" cy="26517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2304288"/>
            <a:ext cx="640080" cy="6400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30428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13448" y="3017520"/>
            <a:ext cx="17922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 Thiele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13448" y="3401568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CHIEF REVENUE OFFICER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013448" y="3657600"/>
            <a:ext cx="17922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Ex-VP Sales at Epic Systems. Closed $2B+ in enterprise health contracts. Built sales orgs from 0→200 across two exits.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13448" y="44805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50" kern="0" dirty="0">
                <a:solidFill>
                  <a:srgbClr val="6B65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 Systems  ·  Veeva Systems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110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$40M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54864" cy="4206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566928"/>
            <a:ext cx="2286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7772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raising $40M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2880" y="13716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B.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182880" y="2331720"/>
            <a:ext cx="2743200" cy="24688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45059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" y="310896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" y="349300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enterprise sales team. Target top 200 U.S. health systems.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72968" y="2331720"/>
            <a:ext cx="2743200" cy="24688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45059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37560" y="310896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Engineering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349300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Biomarker Engine to 1,000+ conditions. Build EU-compliant data layer.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2331720"/>
            <a:ext cx="2743200" cy="246888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8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450592"/>
            <a:ext cx="24140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327648" y="3108960"/>
            <a:ext cx="2414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Validation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7648" y="349300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5 academic medical centers for outcome studies &amp; peer-reviewed publications.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8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invest@vanta.health  ·  vanta.health/series-b  ·  Leads us to $100M ARR by 2027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 — Investor Pitch Deck</dc:title>
  <dc:subject>PptxGenJS Presentation</dc:subject>
  <dc:creator>PptxGenJS</dc:creator>
  <cp:lastModifiedBy>PptxGenJS</cp:lastModifiedBy>
  <cp:revision>1</cp:revision>
  <dcterms:created xsi:type="dcterms:W3CDTF">2026-03-04T14:17:10Z</dcterms:created>
  <dcterms:modified xsi:type="dcterms:W3CDTF">2026-03-04T14:17:10Z</dcterms:modified>
</cp:coreProperties>
</file>